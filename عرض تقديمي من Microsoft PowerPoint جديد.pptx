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4" r:id="rId8"/>
    <p:sldId id="263" r:id="rId9"/>
  </p:sldIdLst>
  <p:sldSz cx="12192000" cy="6858000"/>
  <p:notesSz cx="6858000" cy="9144000"/>
  <p:defaultTextStyle>
    <a:defPPr>
      <a:defRPr lang="ar-SY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17E8005-D3FA-F123-05D8-980EC6AB0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4DAEEBBE-E6D3-6DA4-FFC3-D7D4F49E0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88F4B55-788D-BDC6-4B46-7BCA6A03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33C0-E8B5-4C1B-9017-E913F3802668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20570D9-1D6E-6620-B434-3B94052C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5D5624A-6021-91E3-0613-F5D1EF3AD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05D1-74EC-4C85-B575-229D8B5263C5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068350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D699C2C-1939-CEF2-F5A9-A07944279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3D73563-799C-96FF-90EF-255646BBD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C38DBDC-0FCE-A89E-5161-2BBA7150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33C0-E8B5-4C1B-9017-E913F3802668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5EACEF2-63A6-9D65-8C2D-99F2B5AB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5C7FC2B-AB6B-4849-6CDC-C39FCD3B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05D1-74EC-4C85-B575-229D8B5263C5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53809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1E11EF4-B03F-832C-5933-7123843A4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0AB6F8D-03C0-9FE4-91C2-7826D8B06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7A45A8B-1CE8-7A49-492B-459AB63E4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33C0-E8B5-4C1B-9017-E913F3802668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DEF8D57-0C2C-7139-EB9B-29680F47B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E8366AD-9B79-1061-B2A2-14F84106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05D1-74EC-4C85-B575-229D8B5263C5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93016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7CACF91-D8F5-EBE5-A467-DB4E5EFDF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5C4F24F-F522-3E57-6741-E08AB1E8E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258D2C82-5808-7D46-2A14-4D5353DF3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95813F1-B045-2120-A71C-291C197E3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33C0-E8B5-4C1B-9017-E913F3802668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EAC641FF-E376-B604-A3EC-4192A8F42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572A593-E73B-1E1F-454A-7FB9D35B7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05D1-74EC-4C85-B575-229D8B5263C5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424740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1605767-ED99-32FC-A144-61D9FB55C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4CC1A1F-406F-5FE1-B50B-94E320137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C87D8515-892A-A3F7-7531-D416647E6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AC083ACD-FE4D-5E98-ED82-2402886B0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BE1EE74F-F504-803B-8644-6C43D1937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5CD48BA1-8B5D-30A2-C5EE-D23EA6074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33C0-E8B5-4C1B-9017-E913F3802668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1590C3BE-AC38-EB21-9B44-4E5EBE51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3A5EF782-61B5-B98D-936E-CF58E322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05D1-74EC-4C85-B575-229D8B5263C5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79815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45D5FD1-ABED-9524-9815-C66E2659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0BD2A964-644B-0E6A-E435-271F33C4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33C0-E8B5-4C1B-9017-E913F3802668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413F9ED4-6ED5-687B-039D-4441A155B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648654CE-4AF7-CB8D-A7C1-0386A2E2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05D1-74EC-4C85-B575-229D8B5263C5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028343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23D82EB7-7324-5CA3-622B-28AF828D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33C0-E8B5-4C1B-9017-E913F3802668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3C828390-9233-4B45-A3EA-7AF314A8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32922EC7-40C7-16D7-E1D2-5762962D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05D1-74EC-4C85-B575-229D8B5263C5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017011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4441F67-DC90-0E74-2F23-7AB4BF93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79AF2AA-F46C-6CCA-F05E-797F4E59A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04B35237-DAC2-163A-7A02-1BCB88A96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38499B6-C771-A3FE-3413-BBD1291C8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33C0-E8B5-4C1B-9017-E913F3802668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CC9DBEB9-D731-292C-A59B-C4DDAF0EE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48BACC4A-3E16-A93F-5B5F-3EDA105B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05D1-74EC-4C85-B575-229D8B5263C5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17604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CA4F700-6392-DC92-5687-4F3366D6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8A6907B2-FCFC-CFFB-F840-0974BEF12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Y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B0806F68-22F9-2E61-8B21-2EADE017F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EBA62579-7DA1-DA86-39A0-1265C6421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33C0-E8B5-4C1B-9017-E913F3802668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962525E-989B-A9ED-4571-2A006AB9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FE1E6B2F-F476-8509-9972-BDDDD4B5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05D1-74EC-4C85-B575-229D8B5263C5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60648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B45411C-10FA-2F23-8E11-A1076E36B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1EC2A164-C85E-F630-C932-BABA0B766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EB4E5DD-7DF7-299D-760A-FCC292E1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33C0-E8B5-4C1B-9017-E913F3802668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0A45079-C2E1-50AF-CA37-BD152662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0BD5F03-92D0-FF45-7327-D7A350068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05D1-74EC-4C85-B575-229D8B5263C5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653606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9DEA5C9C-D6EF-4E07-B1BF-597E14C56D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582550BA-9755-0ABB-57EC-E8630C71F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63BAB0C-ABDA-D232-B02A-916EA260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33C0-E8B5-4C1B-9017-E913F3802668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FEFDC0D-B6C7-8A67-014B-6D5A100F8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E3EA162-F707-E6D7-6444-F53F715E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05D1-74EC-4C85-B575-229D8B5263C5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95405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37640609-4F59-4FEA-3D63-DC07E0FBE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2855C99-3EE1-B6EA-9138-4C2E96816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DCAEB37-8A6C-7EEA-DB49-05916C526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C33C0-E8B5-4C1B-9017-E913F3802668}" type="datetimeFigureOut">
              <a:rPr lang="ar-SY" smtClean="0"/>
              <a:t>15/12/1447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5DCDBC8-7E31-972F-401C-7E0A218F20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4FA7DE8-A351-AF4F-E7EC-027AC47C1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305D1-74EC-4C85-B575-229D8B5263C5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77483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Y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DEC1C669-5ADF-2CBA-8F4C-57F759C27537}"/>
              </a:ext>
            </a:extLst>
          </p:cNvPr>
          <p:cNvGrpSpPr/>
          <p:nvPr/>
        </p:nvGrpSpPr>
        <p:grpSpPr>
          <a:xfrm>
            <a:off x="0" y="0"/>
            <a:ext cx="2763671" cy="6858000"/>
            <a:chOff x="0" y="0"/>
            <a:chExt cx="2763671" cy="6858000"/>
          </a:xfrm>
        </p:grpSpPr>
        <p:sp>
          <p:nvSpPr>
            <p:cNvPr id="5" name="نصف إطار 4">
              <a:extLst>
                <a:ext uri="{FF2B5EF4-FFF2-40B4-BE49-F238E27FC236}">
                  <a16:creationId xmlns:a16="http://schemas.microsoft.com/office/drawing/2014/main" id="{D8B83ED3-1AE8-D019-8917-13154DA965CF}"/>
                </a:ext>
              </a:extLst>
            </p:cNvPr>
            <p:cNvSpPr/>
            <p:nvPr userDrawn="1"/>
          </p:nvSpPr>
          <p:spPr>
            <a:xfrm rot="10800000" flipH="1">
              <a:off x="0" y="5807122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6" name="نصف إطار 5">
              <a:extLst>
                <a:ext uri="{FF2B5EF4-FFF2-40B4-BE49-F238E27FC236}">
                  <a16:creationId xmlns:a16="http://schemas.microsoft.com/office/drawing/2014/main" id="{8918D8EB-9E63-A25A-B6D6-6781EEFE1D94}"/>
                </a:ext>
              </a:extLst>
            </p:cNvPr>
            <p:cNvSpPr/>
            <p:nvPr userDrawn="1"/>
          </p:nvSpPr>
          <p:spPr>
            <a:xfrm rot="10800000" flipH="1">
              <a:off x="156949" y="5684292"/>
              <a:ext cx="2606722" cy="1050878"/>
            </a:xfrm>
            <a:prstGeom prst="halfFram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7" name="نصف إطار 6">
              <a:extLst>
                <a:ext uri="{FF2B5EF4-FFF2-40B4-BE49-F238E27FC236}">
                  <a16:creationId xmlns:a16="http://schemas.microsoft.com/office/drawing/2014/main" id="{6944E127-F99E-2041-0C7E-6C0790BA8621}"/>
                </a:ext>
              </a:extLst>
            </p:cNvPr>
            <p:cNvSpPr/>
            <p:nvPr userDrawn="1"/>
          </p:nvSpPr>
          <p:spPr>
            <a:xfrm>
              <a:off x="0" y="0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8" name="نصف إطار 7">
              <a:extLst>
                <a:ext uri="{FF2B5EF4-FFF2-40B4-BE49-F238E27FC236}">
                  <a16:creationId xmlns:a16="http://schemas.microsoft.com/office/drawing/2014/main" id="{FD35AB1D-8102-1670-5D5E-128CED36EBF7}"/>
                </a:ext>
              </a:extLst>
            </p:cNvPr>
            <p:cNvSpPr/>
            <p:nvPr userDrawn="1"/>
          </p:nvSpPr>
          <p:spPr>
            <a:xfrm>
              <a:off x="138754" y="206992"/>
              <a:ext cx="2606722" cy="1050878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9" name="علامة الطرح 8">
              <a:extLst>
                <a:ext uri="{FF2B5EF4-FFF2-40B4-BE49-F238E27FC236}">
                  <a16:creationId xmlns:a16="http://schemas.microsoft.com/office/drawing/2014/main" id="{8C376EBB-0826-F7B1-41DC-4F5D4531DD7F}"/>
                </a:ext>
              </a:extLst>
            </p:cNvPr>
            <p:cNvSpPr/>
            <p:nvPr userDrawn="1"/>
          </p:nvSpPr>
          <p:spPr>
            <a:xfrm rot="5400000">
              <a:off x="-1580365" y="4038667"/>
              <a:ext cx="3484729" cy="324000"/>
            </a:xfrm>
            <a:prstGeom prst="mathMinus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0" name="مخطط انسيابي: رابط 9">
              <a:extLst>
                <a:ext uri="{FF2B5EF4-FFF2-40B4-BE49-F238E27FC236}">
                  <a16:creationId xmlns:a16="http://schemas.microsoft.com/office/drawing/2014/main" id="{3FB097E9-E53B-DC1D-BBD2-4318F671A909}"/>
                </a:ext>
              </a:extLst>
            </p:cNvPr>
            <p:cNvSpPr/>
            <p:nvPr userDrawn="1"/>
          </p:nvSpPr>
          <p:spPr>
            <a:xfrm>
              <a:off x="29568" y="2451471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1" name="مخطط انسيابي: رابط 10">
              <a:extLst>
                <a:ext uri="{FF2B5EF4-FFF2-40B4-BE49-F238E27FC236}">
                  <a16:creationId xmlns:a16="http://schemas.microsoft.com/office/drawing/2014/main" id="{85FE6003-4489-696C-C13A-B8DC6317E03A}"/>
                </a:ext>
              </a:extLst>
            </p:cNvPr>
            <p:cNvSpPr/>
            <p:nvPr userDrawn="1"/>
          </p:nvSpPr>
          <p:spPr>
            <a:xfrm>
              <a:off x="29569" y="2029532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2" name="مخطط انسيابي: رابط 11">
              <a:extLst>
                <a:ext uri="{FF2B5EF4-FFF2-40B4-BE49-F238E27FC236}">
                  <a16:creationId xmlns:a16="http://schemas.microsoft.com/office/drawing/2014/main" id="{C3A479F2-44FC-55C9-9DBC-1385429D3AA7}"/>
                </a:ext>
              </a:extLst>
            </p:cNvPr>
            <p:cNvSpPr/>
            <p:nvPr userDrawn="1"/>
          </p:nvSpPr>
          <p:spPr>
            <a:xfrm>
              <a:off x="31843" y="1666164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281FCCD3-9C46-4FFE-A255-F51BB2C13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406" y="926502"/>
            <a:ext cx="50292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mbria" panose="020405030504060302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Report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1C9214D-65FF-DA89-8AA3-25D530CB9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406" y="2957296"/>
            <a:ext cx="600259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4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Loan risk dataset</a:t>
            </a:r>
            <a:endParaRPr kumimoji="0" lang="en-US" altLang="ko-KR" sz="44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8C015EEC-4CFB-7688-0A5C-6DC55CD0A056}"/>
              </a:ext>
            </a:extLst>
          </p:cNvPr>
          <p:cNvSpPr txBox="1"/>
          <p:nvPr/>
        </p:nvSpPr>
        <p:spPr>
          <a:xfrm>
            <a:off x="5065486" y="4383314"/>
            <a:ext cx="6139543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Presented by :</a:t>
            </a:r>
          </a:p>
          <a:p>
            <a:pPr algn="l"/>
            <a:r>
              <a:rPr lang="en-US" dirty="0"/>
              <a:t>                                                           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 Maya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Mawwas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SY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88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C1B9F-A85E-9543-9D52-8F14AA84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EC4CE4DF-7790-9323-7A23-5773A8108B26}"/>
              </a:ext>
            </a:extLst>
          </p:cNvPr>
          <p:cNvGrpSpPr/>
          <p:nvPr/>
        </p:nvGrpSpPr>
        <p:grpSpPr>
          <a:xfrm>
            <a:off x="0" y="0"/>
            <a:ext cx="2763671" cy="6858000"/>
            <a:chOff x="0" y="0"/>
            <a:chExt cx="2763671" cy="6858000"/>
          </a:xfrm>
        </p:grpSpPr>
        <p:sp>
          <p:nvSpPr>
            <p:cNvPr id="5" name="نصف إطار 4">
              <a:extLst>
                <a:ext uri="{FF2B5EF4-FFF2-40B4-BE49-F238E27FC236}">
                  <a16:creationId xmlns:a16="http://schemas.microsoft.com/office/drawing/2014/main" id="{4BAAD035-7227-4B82-8D18-1D7B4521F385}"/>
                </a:ext>
              </a:extLst>
            </p:cNvPr>
            <p:cNvSpPr/>
            <p:nvPr userDrawn="1"/>
          </p:nvSpPr>
          <p:spPr>
            <a:xfrm rot="10800000" flipH="1">
              <a:off x="0" y="5807122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6" name="نصف إطار 5">
              <a:extLst>
                <a:ext uri="{FF2B5EF4-FFF2-40B4-BE49-F238E27FC236}">
                  <a16:creationId xmlns:a16="http://schemas.microsoft.com/office/drawing/2014/main" id="{FEE96792-51A0-B9CA-1D22-0C11596515D5}"/>
                </a:ext>
              </a:extLst>
            </p:cNvPr>
            <p:cNvSpPr/>
            <p:nvPr userDrawn="1"/>
          </p:nvSpPr>
          <p:spPr>
            <a:xfrm rot="10800000" flipH="1">
              <a:off x="156949" y="5684292"/>
              <a:ext cx="2606722" cy="1050878"/>
            </a:xfrm>
            <a:prstGeom prst="halfFram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7" name="نصف إطار 6">
              <a:extLst>
                <a:ext uri="{FF2B5EF4-FFF2-40B4-BE49-F238E27FC236}">
                  <a16:creationId xmlns:a16="http://schemas.microsoft.com/office/drawing/2014/main" id="{39B073F9-D974-77C2-9BB8-313F15072EB5}"/>
                </a:ext>
              </a:extLst>
            </p:cNvPr>
            <p:cNvSpPr/>
            <p:nvPr userDrawn="1"/>
          </p:nvSpPr>
          <p:spPr>
            <a:xfrm>
              <a:off x="0" y="0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8" name="نصف إطار 7">
              <a:extLst>
                <a:ext uri="{FF2B5EF4-FFF2-40B4-BE49-F238E27FC236}">
                  <a16:creationId xmlns:a16="http://schemas.microsoft.com/office/drawing/2014/main" id="{561C3AA2-ACCC-2B18-923F-FE595A984193}"/>
                </a:ext>
              </a:extLst>
            </p:cNvPr>
            <p:cNvSpPr/>
            <p:nvPr userDrawn="1"/>
          </p:nvSpPr>
          <p:spPr>
            <a:xfrm>
              <a:off x="138754" y="206992"/>
              <a:ext cx="2606722" cy="1050878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9" name="علامة الطرح 8">
              <a:extLst>
                <a:ext uri="{FF2B5EF4-FFF2-40B4-BE49-F238E27FC236}">
                  <a16:creationId xmlns:a16="http://schemas.microsoft.com/office/drawing/2014/main" id="{6257D8C9-3C77-E1EA-A115-85125B71D7CC}"/>
                </a:ext>
              </a:extLst>
            </p:cNvPr>
            <p:cNvSpPr/>
            <p:nvPr userDrawn="1"/>
          </p:nvSpPr>
          <p:spPr>
            <a:xfrm rot="5400000">
              <a:off x="-1580365" y="4038667"/>
              <a:ext cx="3484729" cy="324000"/>
            </a:xfrm>
            <a:prstGeom prst="mathMinus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0" name="مخطط انسيابي: رابط 9">
              <a:extLst>
                <a:ext uri="{FF2B5EF4-FFF2-40B4-BE49-F238E27FC236}">
                  <a16:creationId xmlns:a16="http://schemas.microsoft.com/office/drawing/2014/main" id="{247F8BDF-4E19-9BE9-6B5C-B6375B4A98BB}"/>
                </a:ext>
              </a:extLst>
            </p:cNvPr>
            <p:cNvSpPr/>
            <p:nvPr userDrawn="1"/>
          </p:nvSpPr>
          <p:spPr>
            <a:xfrm>
              <a:off x="29568" y="2451471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1" name="مخطط انسيابي: رابط 10">
              <a:extLst>
                <a:ext uri="{FF2B5EF4-FFF2-40B4-BE49-F238E27FC236}">
                  <a16:creationId xmlns:a16="http://schemas.microsoft.com/office/drawing/2014/main" id="{9EE8AE7E-B312-9E19-8AD5-C3B866FDBCC0}"/>
                </a:ext>
              </a:extLst>
            </p:cNvPr>
            <p:cNvSpPr/>
            <p:nvPr userDrawn="1"/>
          </p:nvSpPr>
          <p:spPr>
            <a:xfrm>
              <a:off x="29569" y="2029532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2" name="مخطط انسيابي: رابط 11">
              <a:extLst>
                <a:ext uri="{FF2B5EF4-FFF2-40B4-BE49-F238E27FC236}">
                  <a16:creationId xmlns:a16="http://schemas.microsoft.com/office/drawing/2014/main" id="{3F9CEDFB-BADF-7D68-1FA0-904C98D617AD}"/>
                </a:ext>
              </a:extLst>
            </p:cNvPr>
            <p:cNvSpPr/>
            <p:nvPr userDrawn="1"/>
          </p:nvSpPr>
          <p:spPr>
            <a:xfrm>
              <a:off x="31843" y="1666164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</p:grpSp>
      <p:sp>
        <p:nvSpPr>
          <p:cNvPr id="2" name="مربع نص 1">
            <a:extLst>
              <a:ext uri="{FF2B5EF4-FFF2-40B4-BE49-F238E27FC236}">
                <a16:creationId xmlns:a16="http://schemas.microsoft.com/office/drawing/2014/main" id="{29EFB19E-FC4D-241E-05D7-15991E0AB725}"/>
              </a:ext>
            </a:extLst>
          </p:cNvPr>
          <p:cNvSpPr txBox="1"/>
          <p:nvPr/>
        </p:nvSpPr>
        <p:spPr>
          <a:xfrm>
            <a:off x="1401098" y="565590"/>
            <a:ext cx="9702332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Y" sz="18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هذا التقرير يهدف إلى تحليل العوامل المؤثرة على الموافقة على القروض</a:t>
            </a: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Y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العمر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الديون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Y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الراتب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سنوات الخبرة </a:t>
            </a:r>
          </a:p>
          <a:p>
            <a:endParaRPr lang="ar-SY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ar-SY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بعد الدراسة والتحليل القائمين على عدة مراحل من جلب وتنظيف للبيانات وتحميل المكتبات وجدت هذه النتائج </a:t>
            </a:r>
            <a:r>
              <a:rPr lang="ar-SY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العملاء البالغين من العمر أقل من </a:t>
            </a:r>
            <a:r>
              <a:rPr lang="ar-SY" sz="18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28</a:t>
            </a: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عام نسبة موافقتهم </a:t>
            </a:r>
            <a:r>
              <a:rPr lang="ar-SY" sz="18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% بينما ترتفع بشكل كبير بعد عمر </a:t>
            </a:r>
            <a:r>
              <a:rPr lang="ar-SY" sz="18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35</a:t>
            </a: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سنة.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العلاقة بين الديون والراتب ليست طردية عادة أصحاب الديون المرتفعة نسبة موافقتهم أعلى لأنهم ذوي رواتب عالية.</a:t>
            </a:r>
          </a:p>
          <a:p>
            <a:endParaRPr lang="ar-SY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ar-SY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          نستنتج :</a:t>
            </a:r>
          </a:p>
          <a:p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أن أكثر العوامل تأثيراً مستوى الدين </a:t>
            </a:r>
            <a:r>
              <a:rPr lang="ar-SY" sz="18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35</a:t>
            </a: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% والراتب </a:t>
            </a:r>
            <a:r>
              <a:rPr lang="ar-SY" sz="18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25</a:t>
            </a: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% الفئة العمرية الأكثر أماناً </a:t>
            </a:r>
            <a:r>
              <a:rPr lang="ar-SY" sz="18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40</a:t>
            </a: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سنة فما فوق والحد الأدنى المقترح للموافقة أن يكون الراتب أكبر أو يساوي </a:t>
            </a:r>
            <a:r>
              <a:rPr lang="ar-SY" sz="18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5500</a:t>
            </a: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$ والخبرة أكثر من خمس سنوات. </a:t>
            </a:r>
          </a:p>
          <a:p>
            <a:endParaRPr lang="ar-SY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856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E2E65-0F17-16F4-600F-5C821177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AB1CAC21-376B-032C-54D1-D73D34BEA5B9}"/>
              </a:ext>
            </a:extLst>
          </p:cNvPr>
          <p:cNvGrpSpPr/>
          <p:nvPr/>
        </p:nvGrpSpPr>
        <p:grpSpPr>
          <a:xfrm>
            <a:off x="0" y="0"/>
            <a:ext cx="2763671" cy="6858000"/>
            <a:chOff x="0" y="0"/>
            <a:chExt cx="2763671" cy="6858000"/>
          </a:xfrm>
        </p:grpSpPr>
        <p:sp>
          <p:nvSpPr>
            <p:cNvPr id="5" name="نصف إطار 4">
              <a:extLst>
                <a:ext uri="{FF2B5EF4-FFF2-40B4-BE49-F238E27FC236}">
                  <a16:creationId xmlns:a16="http://schemas.microsoft.com/office/drawing/2014/main" id="{2254450F-3E29-9BC1-336C-B906CFE8AEB1}"/>
                </a:ext>
              </a:extLst>
            </p:cNvPr>
            <p:cNvSpPr/>
            <p:nvPr userDrawn="1"/>
          </p:nvSpPr>
          <p:spPr>
            <a:xfrm rot="10800000" flipH="1">
              <a:off x="0" y="5807122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6" name="نصف إطار 5">
              <a:extLst>
                <a:ext uri="{FF2B5EF4-FFF2-40B4-BE49-F238E27FC236}">
                  <a16:creationId xmlns:a16="http://schemas.microsoft.com/office/drawing/2014/main" id="{BB126E71-B016-BEDA-F241-6FA2475E5F14}"/>
                </a:ext>
              </a:extLst>
            </p:cNvPr>
            <p:cNvSpPr/>
            <p:nvPr userDrawn="1"/>
          </p:nvSpPr>
          <p:spPr>
            <a:xfrm rot="10800000" flipH="1">
              <a:off x="156949" y="5684292"/>
              <a:ext cx="2606722" cy="1050878"/>
            </a:xfrm>
            <a:prstGeom prst="halfFram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7" name="نصف إطار 6">
              <a:extLst>
                <a:ext uri="{FF2B5EF4-FFF2-40B4-BE49-F238E27FC236}">
                  <a16:creationId xmlns:a16="http://schemas.microsoft.com/office/drawing/2014/main" id="{E856E211-501A-5B54-62FF-E3C8C4C86E13}"/>
                </a:ext>
              </a:extLst>
            </p:cNvPr>
            <p:cNvSpPr/>
            <p:nvPr userDrawn="1"/>
          </p:nvSpPr>
          <p:spPr>
            <a:xfrm>
              <a:off x="0" y="0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8" name="نصف إطار 7">
              <a:extLst>
                <a:ext uri="{FF2B5EF4-FFF2-40B4-BE49-F238E27FC236}">
                  <a16:creationId xmlns:a16="http://schemas.microsoft.com/office/drawing/2014/main" id="{83B40A63-63DC-B188-61CE-CA517EF9FA8F}"/>
                </a:ext>
              </a:extLst>
            </p:cNvPr>
            <p:cNvSpPr/>
            <p:nvPr userDrawn="1"/>
          </p:nvSpPr>
          <p:spPr>
            <a:xfrm>
              <a:off x="138754" y="206992"/>
              <a:ext cx="2606722" cy="1050878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9" name="علامة الطرح 8">
              <a:extLst>
                <a:ext uri="{FF2B5EF4-FFF2-40B4-BE49-F238E27FC236}">
                  <a16:creationId xmlns:a16="http://schemas.microsoft.com/office/drawing/2014/main" id="{5D9C50FE-CF57-15A0-6585-FEA7ED78893C}"/>
                </a:ext>
              </a:extLst>
            </p:cNvPr>
            <p:cNvSpPr/>
            <p:nvPr userDrawn="1"/>
          </p:nvSpPr>
          <p:spPr>
            <a:xfrm rot="5400000">
              <a:off x="-1580365" y="4038667"/>
              <a:ext cx="3484729" cy="324000"/>
            </a:xfrm>
            <a:prstGeom prst="mathMinus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0" name="مخطط انسيابي: رابط 9">
              <a:extLst>
                <a:ext uri="{FF2B5EF4-FFF2-40B4-BE49-F238E27FC236}">
                  <a16:creationId xmlns:a16="http://schemas.microsoft.com/office/drawing/2014/main" id="{DB1FE82C-E49F-0F89-E21D-05E079714FC0}"/>
                </a:ext>
              </a:extLst>
            </p:cNvPr>
            <p:cNvSpPr/>
            <p:nvPr userDrawn="1"/>
          </p:nvSpPr>
          <p:spPr>
            <a:xfrm>
              <a:off x="29568" y="2451471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1" name="مخطط انسيابي: رابط 10">
              <a:extLst>
                <a:ext uri="{FF2B5EF4-FFF2-40B4-BE49-F238E27FC236}">
                  <a16:creationId xmlns:a16="http://schemas.microsoft.com/office/drawing/2014/main" id="{837941F0-8205-37BA-6A37-9A699A2597F1}"/>
                </a:ext>
              </a:extLst>
            </p:cNvPr>
            <p:cNvSpPr/>
            <p:nvPr userDrawn="1"/>
          </p:nvSpPr>
          <p:spPr>
            <a:xfrm>
              <a:off x="29569" y="2029532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2" name="مخطط انسيابي: رابط 11">
              <a:extLst>
                <a:ext uri="{FF2B5EF4-FFF2-40B4-BE49-F238E27FC236}">
                  <a16:creationId xmlns:a16="http://schemas.microsoft.com/office/drawing/2014/main" id="{063B14D8-5C6D-EBD8-B197-062973450DC0}"/>
                </a:ext>
              </a:extLst>
            </p:cNvPr>
            <p:cNvSpPr/>
            <p:nvPr userDrawn="1"/>
          </p:nvSpPr>
          <p:spPr>
            <a:xfrm>
              <a:off x="31843" y="1666164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</p:grpSp>
      <p:graphicFrame>
        <p:nvGraphicFramePr>
          <p:cNvPr id="13" name="جدول 12">
            <a:extLst>
              <a:ext uri="{FF2B5EF4-FFF2-40B4-BE49-F238E27FC236}">
                <a16:creationId xmlns:a16="http://schemas.microsoft.com/office/drawing/2014/main" id="{4E505C9E-407B-32D6-3416-B7B64A49B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678599"/>
              </p:ext>
            </p:extLst>
          </p:nvPr>
        </p:nvGraphicFramePr>
        <p:xfrm>
          <a:off x="2763671" y="1176321"/>
          <a:ext cx="6970264" cy="41773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85132">
                  <a:extLst>
                    <a:ext uri="{9D8B030D-6E8A-4147-A177-3AD203B41FA5}">
                      <a16:colId xmlns:a16="http://schemas.microsoft.com/office/drawing/2014/main" val="4240847008"/>
                    </a:ext>
                  </a:extLst>
                </a:gridCol>
                <a:gridCol w="3485132">
                  <a:extLst>
                    <a:ext uri="{9D8B030D-6E8A-4147-A177-3AD203B41FA5}">
                      <a16:colId xmlns:a16="http://schemas.microsoft.com/office/drawing/2014/main" val="613634521"/>
                    </a:ext>
                  </a:extLst>
                </a:gridCol>
              </a:tblGrid>
              <a:tr h="46061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400" cap="all">
                          <a:effectLst/>
                        </a:rPr>
                        <a:t>المؤشر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400" cap="all">
                          <a:effectLst/>
                        </a:rPr>
                        <a:t>القيمة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3731247"/>
                  </a:ext>
                </a:extLst>
              </a:tr>
              <a:tr h="47653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400" cap="all">
                          <a:effectLst/>
                        </a:rPr>
                        <a:t>إجمالي العملاء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73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9128782"/>
                  </a:ext>
                </a:extLst>
              </a:tr>
              <a:tr h="46061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400" cap="all">
                          <a:effectLst/>
                        </a:rPr>
                        <a:t>عدد الموافقين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2685864"/>
                  </a:ext>
                </a:extLst>
              </a:tr>
              <a:tr h="476531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400" cap="all">
                          <a:effectLst/>
                        </a:rPr>
                        <a:t>عدد المرفوضين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39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6567554"/>
                  </a:ext>
                </a:extLst>
              </a:tr>
              <a:tr h="46061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400" cap="all">
                          <a:effectLst/>
                        </a:rPr>
                        <a:t>نسبة الموافقة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46.6%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7814320"/>
                  </a:ext>
                </a:extLst>
              </a:tr>
              <a:tr h="46061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400" cap="all">
                          <a:effectLst/>
                        </a:rPr>
                        <a:t>متوسط العمر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34.2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1962240"/>
                  </a:ext>
                </a:extLst>
              </a:tr>
              <a:tr h="46061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400" cap="all">
                          <a:effectLst/>
                        </a:rPr>
                        <a:t>متوسط الراتب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$5900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1475295"/>
                  </a:ext>
                </a:extLst>
              </a:tr>
              <a:tr h="46061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400" cap="all">
                          <a:effectLst/>
                        </a:rPr>
                        <a:t>متوسط الديون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$16200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9025580"/>
                  </a:ext>
                </a:extLst>
              </a:tr>
              <a:tr h="46061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400" cap="all">
                          <a:effectLst/>
                        </a:rPr>
                        <a:t>متوسط سنوات الخبرة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6.8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8505199"/>
                  </a:ext>
                </a:extLst>
              </a:tr>
            </a:tbl>
          </a:graphicData>
        </a:graphic>
      </p:graphicFrame>
      <p:sp>
        <p:nvSpPr>
          <p:cNvPr id="14" name="مربع نص 13">
            <a:extLst>
              <a:ext uri="{FF2B5EF4-FFF2-40B4-BE49-F238E27FC236}">
                <a16:creationId xmlns:a16="http://schemas.microsoft.com/office/drawing/2014/main" id="{031987B1-2541-1254-85C2-6700A42AB38C}"/>
              </a:ext>
            </a:extLst>
          </p:cNvPr>
          <p:cNvSpPr txBox="1"/>
          <p:nvPr/>
        </p:nvSpPr>
        <p:spPr>
          <a:xfrm>
            <a:off x="8040914" y="525439"/>
            <a:ext cx="351245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Y" sz="3600" b="1" dirty="0">
                <a:solidFill>
                  <a:schemeClr val="accent1">
                    <a:lumMod val="75000"/>
                  </a:schemeClr>
                </a:solidFill>
              </a:rPr>
              <a:t>إحصائيات عامة:</a:t>
            </a:r>
          </a:p>
        </p:txBody>
      </p:sp>
    </p:spTree>
    <p:extLst>
      <p:ext uri="{BB962C8B-B14F-4D97-AF65-F5344CB8AC3E}">
        <p14:creationId xmlns:p14="http://schemas.microsoft.com/office/powerpoint/2010/main" val="2857185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D0DF8-F4E4-9F6B-3986-D3EF1A97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83523B2B-551D-92E0-79E4-64DA9C4FAF25}"/>
              </a:ext>
            </a:extLst>
          </p:cNvPr>
          <p:cNvGrpSpPr/>
          <p:nvPr/>
        </p:nvGrpSpPr>
        <p:grpSpPr>
          <a:xfrm>
            <a:off x="0" y="0"/>
            <a:ext cx="2763671" cy="6858000"/>
            <a:chOff x="0" y="0"/>
            <a:chExt cx="2763671" cy="6858000"/>
          </a:xfrm>
        </p:grpSpPr>
        <p:sp>
          <p:nvSpPr>
            <p:cNvPr id="5" name="نصف إطار 4">
              <a:extLst>
                <a:ext uri="{FF2B5EF4-FFF2-40B4-BE49-F238E27FC236}">
                  <a16:creationId xmlns:a16="http://schemas.microsoft.com/office/drawing/2014/main" id="{6167F5F3-6975-FEED-5E7E-F0693A635920}"/>
                </a:ext>
              </a:extLst>
            </p:cNvPr>
            <p:cNvSpPr/>
            <p:nvPr userDrawn="1"/>
          </p:nvSpPr>
          <p:spPr>
            <a:xfrm rot="10800000" flipH="1">
              <a:off x="0" y="5807122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6" name="نصف إطار 5">
              <a:extLst>
                <a:ext uri="{FF2B5EF4-FFF2-40B4-BE49-F238E27FC236}">
                  <a16:creationId xmlns:a16="http://schemas.microsoft.com/office/drawing/2014/main" id="{EB550D2C-D88C-D381-A5C1-6E6749807002}"/>
                </a:ext>
              </a:extLst>
            </p:cNvPr>
            <p:cNvSpPr/>
            <p:nvPr userDrawn="1"/>
          </p:nvSpPr>
          <p:spPr>
            <a:xfrm rot="10800000" flipH="1">
              <a:off x="156949" y="5684292"/>
              <a:ext cx="2606722" cy="1050878"/>
            </a:xfrm>
            <a:prstGeom prst="halfFram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7" name="نصف إطار 6">
              <a:extLst>
                <a:ext uri="{FF2B5EF4-FFF2-40B4-BE49-F238E27FC236}">
                  <a16:creationId xmlns:a16="http://schemas.microsoft.com/office/drawing/2014/main" id="{B5524F1C-D34A-30C8-A60D-D8259ABD5BF6}"/>
                </a:ext>
              </a:extLst>
            </p:cNvPr>
            <p:cNvSpPr/>
            <p:nvPr userDrawn="1"/>
          </p:nvSpPr>
          <p:spPr>
            <a:xfrm>
              <a:off x="0" y="0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8" name="نصف إطار 7">
              <a:extLst>
                <a:ext uri="{FF2B5EF4-FFF2-40B4-BE49-F238E27FC236}">
                  <a16:creationId xmlns:a16="http://schemas.microsoft.com/office/drawing/2014/main" id="{9320953E-B8D2-1940-F901-320416805A57}"/>
                </a:ext>
              </a:extLst>
            </p:cNvPr>
            <p:cNvSpPr/>
            <p:nvPr userDrawn="1"/>
          </p:nvSpPr>
          <p:spPr>
            <a:xfrm>
              <a:off x="138754" y="206992"/>
              <a:ext cx="2606722" cy="1050878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9" name="علامة الطرح 8">
              <a:extLst>
                <a:ext uri="{FF2B5EF4-FFF2-40B4-BE49-F238E27FC236}">
                  <a16:creationId xmlns:a16="http://schemas.microsoft.com/office/drawing/2014/main" id="{8D5D903B-B136-D721-0FF2-3AB96868BDDB}"/>
                </a:ext>
              </a:extLst>
            </p:cNvPr>
            <p:cNvSpPr/>
            <p:nvPr userDrawn="1"/>
          </p:nvSpPr>
          <p:spPr>
            <a:xfrm rot="5400000">
              <a:off x="-1580365" y="4038667"/>
              <a:ext cx="3484729" cy="324000"/>
            </a:xfrm>
            <a:prstGeom prst="mathMinus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0" name="مخطط انسيابي: رابط 9">
              <a:extLst>
                <a:ext uri="{FF2B5EF4-FFF2-40B4-BE49-F238E27FC236}">
                  <a16:creationId xmlns:a16="http://schemas.microsoft.com/office/drawing/2014/main" id="{A502DA28-AE6C-3B5D-ECB0-C404FD9AF89A}"/>
                </a:ext>
              </a:extLst>
            </p:cNvPr>
            <p:cNvSpPr/>
            <p:nvPr userDrawn="1"/>
          </p:nvSpPr>
          <p:spPr>
            <a:xfrm>
              <a:off x="29568" y="2451471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1" name="مخطط انسيابي: رابط 10">
              <a:extLst>
                <a:ext uri="{FF2B5EF4-FFF2-40B4-BE49-F238E27FC236}">
                  <a16:creationId xmlns:a16="http://schemas.microsoft.com/office/drawing/2014/main" id="{F1DF5642-1E31-B0B1-DF7E-13EE3F5B58CD}"/>
                </a:ext>
              </a:extLst>
            </p:cNvPr>
            <p:cNvSpPr/>
            <p:nvPr userDrawn="1"/>
          </p:nvSpPr>
          <p:spPr>
            <a:xfrm>
              <a:off x="29569" y="2029532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2" name="مخطط انسيابي: رابط 11">
              <a:extLst>
                <a:ext uri="{FF2B5EF4-FFF2-40B4-BE49-F238E27FC236}">
                  <a16:creationId xmlns:a16="http://schemas.microsoft.com/office/drawing/2014/main" id="{86ADDFFE-7BB8-C32E-846A-4805106FE1B7}"/>
                </a:ext>
              </a:extLst>
            </p:cNvPr>
            <p:cNvSpPr/>
            <p:nvPr userDrawn="1"/>
          </p:nvSpPr>
          <p:spPr>
            <a:xfrm>
              <a:off x="31843" y="1666164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</p:grpSp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AB4B5F6F-5871-17A2-F078-3BA96A502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311189"/>
              </p:ext>
            </p:extLst>
          </p:nvPr>
        </p:nvGraphicFramePr>
        <p:xfrm>
          <a:off x="1303361" y="1614142"/>
          <a:ext cx="5563362" cy="3713877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854454">
                  <a:extLst>
                    <a:ext uri="{9D8B030D-6E8A-4147-A177-3AD203B41FA5}">
                      <a16:colId xmlns:a16="http://schemas.microsoft.com/office/drawing/2014/main" val="1220340535"/>
                    </a:ext>
                  </a:extLst>
                </a:gridCol>
                <a:gridCol w="1854454">
                  <a:extLst>
                    <a:ext uri="{9D8B030D-6E8A-4147-A177-3AD203B41FA5}">
                      <a16:colId xmlns:a16="http://schemas.microsoft.com/office/drawing/2014/main" val="2616109326"/>
                    </a:ext>
                  </a:extLst>
                </a:gridCol>
                <a:gridCol w="1854454">
                  <a:extLst>
                    <a:ext uri="{9D8B030D-6E8A-4147-A177-3AD203B41FA5}">
                      <a16:colId xmlns:a16="http://schemas.microsoft.com/office/drawing/2014/main" val="2901346037"/>
                    </a:ext>
                  </a:extLst>
                </a:gridCol>
              </a:tblGrid>
              <a:tr h="737183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الفئة العمرية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العدد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نسبة الموافقة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7059352"/>
                  </a:ext>
                </a:extLst>
              </a:tr>
              <a:tr h="765145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22-28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23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0%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0980405"/>
                  </a:ext>
                </a:extLst>
              </a:tr>
              <a:tr h="737183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29-34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22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18%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0469582"/>
                  </a:ext>
                </a:extLst>
              </a:tr>
              <a:tr h="737183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35-40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18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72%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7922035"/>
                  </a:ext>
                </a:extLst>
              </a:tr>
              <a:tr h="737183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41-45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 dirty="0">
                          <a:effectLst/>
                        </a:rPr>
                        <a:t>90%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595348"/>
                  </a:ext>
                </a:extLst>
              </a:tr>
            </a:tbl>
          </a:graphicData>
        </a:graphic>
      </p:graphicFrame>
      <p:sp>
        <p:nvSpPr>
          <p:cNvPr id="3" name="مربع نص 2">
            <a:extLst>
              <a:ext uri="{FF2B5EF4-FFF2-40B4-BE49-F238E27FC236}">
                <a16:creationId xmlns:a16="http://schemas.microsoft.com/office/drawing/2014/main" id="{12A413B8-ED6C-B331-94CB-2F0DF0B202DB}"/>
              </a:ext>
            </a:extLst>
          </p:cNvPr>
          <p:cNvSpPr txBox="1"/>
          <p:nvPr/>
        </p:nvSpPr>
        <p:spPr>
          <a:xfrm>
            <a:off x="7547429" y="493486"/>
            <a:ext cx="402045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Y" sz="2400" b="1" dirty="0">
                <a:solidFill>
                  <a:schemeClr val="accent1">
                    <a:lumMod val="75000"/>
                  </a:schemeClr>
                </a:solidFill>
              </a:rPr>
              <a:t>توزيع العملاء حسب العمر:</a:t>
            </a:r>
          </a:p>
        </p:txBody>
      </p:sp>
    </p:spTree>
    <p:extLst>
      <p:ext uri="{BB962C8B-B14F-4D97-AF65-F5344CB8AC3E}">
        <p14:creationId xmlns:p14="http://schemas.microsoft.com/office/powerpoint/2010/main" val="9130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4D9D8-39CC-E805-2591-DB7A8E38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942C915B-3A38-63F9-85D6-17CFD6C192E1}"/>
              </a:ext>
            </a:extLst>
          </p:cNvPr>
          <p:cNvGrpSpPr/>
          <p:nvPr/>
        </p:nvGrpSpPr>
        <p:grpSpPr>
          <a:xfrm>
            <a:off x="0" y="0"/>
            <a:ext cx="2763671" cy="6858000"/>
            <a:chOff x="0" y="0"/>
            <a:chExt cx="2763671" cy="6858000"/>
          </a:xfrm>
        </p:grpSpPr>
        <p:sp>
          <p:nvSpPr>
            <p:cNvPr id="5" name="نصف إطار 4">
              <a:extLst>
                <a:ext uri="{FF2B5EF4-FFF2-40B4-BE49-F238E27FC236}">
                  <a16:creationId xmlns:a16="http://schemas.microsoft.com/office/drawing/2014/main" id="{1F65AFD5-AEF9-7B88-D5EE-97F9706152B8}"/>
                </a:ext>
              </a:extLst>
            </p:cNvPr>
            <p:cNvSpPr/>
            <p:nvPr userDrawn="1"/>
          </p:nvSpPr>
          <p:spPr>
            <a:xfrm rot="10800000" flipH="1">
              <a:off x="0" y="5807122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6" name="نصف إطار 5">
              <a:extLst>
                <a:ext uri="{FF2B5EF4-FFF2-40B4-BE49-F238E27FC236}">
                  <a16:creationId xmlns:a16="http://schemas.microsoft.com/office/drawing/2014/main" id="{3070D2AA-C64B-645D-2829-E24725974B68}"/>
                </a:ext>
              </a:extLst>
            </p:cNvPr>
            <p:cNvSpPr/>
            <p:nvPr userDrawn="1"/>
          </p:nvSpPr>
          <p:spPr>
            <a:xfrm rot="10800000" flipH="1">
              <a:off x="156949" y="5684292"/>
              <a:ext cx="2606722" cy="1050878"/>
            </a:xfrm>
            <a:prstGeom prst="halfFram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7" name="نصف إطار 6">
              <a:extLst>
                <a:ext uri="{FF2B5EF4-FFF2-40B4-BE49-F238E27FC236}">
                  <a16:creationId xmlns:a16="http://schemas.microsoft.com/office/drawing/2014/main" id="{8C848717-7C4A-9655-A458-D729FE4B3C48}"/>
                </a:ext>
              </a:extLst>
            </p:cNvPr>
            <p:cNvSpPr/>
            <p:nvPr userDrawn="1"/>
          </p:nvSpPr>
          <p:spPr>
            <a:xfrm>
              <a:off x="0" y="0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8" name="نصف إطار 7">
              <a:extLst>
                <a:ext uri="{FF2B5EF4-FFF2-40B4-BE49-F238E27FC236}">
                  <a16:creationId xmlns:a16="http://schemas.microsoft.com/office/drawing/2014/main" id="{B912755A-41A9-7D89-3458-E6F36C4DF96E}"/>
                </a:ext>
              </a:extLst>
            </p:cNvPr>
            <p:cNvSpPr/>
            <p:nvPr userDrawn="1"/>
          </p:nvSpPr>
          <p:spPr>
            <a:xfrm>
              <a:off x="138754" y="206992"/>
              <a:ext cx="2606722" cy="1050878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9" name="علامة الطرح 8">
              <a:extLst>
                <a:ext uri="{FF2B5EF4-FFF2-40B4-BE49-F238E27FC236}">
                  <a16:creationId xmlns:a16="http://schemas.microsoft.com/office/drawing/2014/main" id="{60AE48C9-DCA8-7005-C107-1D147B231FF9}"/>
                </a:ext>
              </a:extLst>
            </p:cNvPr>
            <p:cNvSpPr/>
            <p:nvPr userDrawn="1"/>
          </p:nvSpPr>
          <p:spPr>
            <a:xfrm rot="5400000">
              <a:off x="-1580365" y="4038667"/>
              <a:ext cx="3484729" cy="324000"/>
            </a:xfrm>
            <a:prstGeom prst="mathMinus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0" name="مخطط انسيابي: رابط 9">
              <a:extLst>
                <a:ext uri="{FF2B5EF4-FFF2-40B4-BE49-F238E27FC236}">
                  <a16:creationId xmlns:a16="http://schemas.microsoft.com/office/drawing/2014/main" id="{C019E4BA-6F88-7AB5-D8A4-3BB6A62F6AAE}"/>
                </a:ext>
              </a:extLst>
            </p:cNvPr>
            <p:cNvSpPr/>
            <p:nvPr userDrawn="1"/>
          </p:nvSpPr>
          <p:spPr>
            <a:xfrm>
              <a:off x="29568" y="2451471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1" name="مخطط انسيابي: رابط 10">
              <a:extLst>
                <a:ext uri="{FF2B5EF4-FFF2-40B4-BE49-F238E27FC236}">
                  <a16:creationId xmlns:a16="http://schemas.microsoft.com/office/drawing/2014/main" id="{AFEAC27C-83E1-F195-8722-96298B6089F4}"/>
                </a:ext>
              </a:extLst>
            </p:cNvPr>
            <p:cNvSpPr/>
            <p:nvPr userDrawn="1"/>
          </p:nvSpPr>
          <p:spPr>
            <a:xfrm>
              <a:off x="29569" y="2029532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2" name="مخطط انسيابي: رابط 11">
              <a:extLst>
                <a:ext uri="{FF2B5EF4-FFF2-40B4-BE49-F238E27FC236}">
                  <a16:creationId xmlns:a16="http://schemas.microsoft.com/office/drawing/2014/main" id="{573442E5-E5A2-4893-48E9-AA2C21B796C3}"/>
                </a:ext>
              </a:extLst>
            </p:cNvPr>
            <p:cNvSpPr/>
            <p:nvPr userDrawn="1"/>
          </p:nvSpPr>
          <p:spPr>
            <a:xfrm>
              <a:off x="31843" y="1666164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</p:grp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718E6D84-EAF1-41B9-1095-E8F9DA4E5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235423"/>
              </p:ext>
            </p:extLst>
          </p:nvPr>
        </p:nvGraphicFramePr>
        <p:xfrm>
          <a:off x="958646" y="1050878"/>
          <a:ext cx="7398260" cy="5076254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232745">
                  <a:extLst>
                    <a:ext uri="{9D8B030D-6E8A-4147-A177-3AD203B41FA5}">
                      <a16:colId xmlns:a16="http://schemas.microsoft.com/office/drawing/2014/main" val="346373261"/>
                    </a:ext>
                  </a:extLst>
                </a:gridCol>
                <a:gridCol w="1232745">
                  <a:extLst>
                    <a:ext uri="{9D8B030D-6E8A-4147-A177-3AD203B41FA5}">
                      <a16:colId xmlns:a16="http://schemas.microsoft.com/office/drawing/2014/main" val="4036318028"/>
                    </a:ext>
                  </a:extLst>
                </a:gridCol>
                <a:gridCol w="1232745">
                  <a:extLst>
                    <a:ext uri="{9D8B030D-6E8A-4147-A177-3AD203B41FA5}">
                      <a16:colId xmlns:a16="http://schemas.microsoft.com/office/drawing/2014/main" val="487479746"/>
                    </a:ext>
                  </a:extLst>
                </a:gridCol>
                <a:gridCol w="1232745">
                  <a:extLst>
                    <a:ext uri="{9D8B030D-6E8A-4147-A177-3AD203B41FA5}">
                      <a16:colId xmlns:a16="http://schemas.microsoft.com/office/drawing/2014/main" val="4085879259"/>
                    </a:ext>
                  </a:extLst>
                </a:gridCol>
                <a:gridCol w="1233640">
                  <a:extLst>
                    <a:ext uri="{9D8B030D-6E8A-4147-A177-3AD203B41FA5}">
                      <a16:colId xmlns:a16="http://schemas.microsoft.com/office/drawing/2014/main" val="2746582277"/>
                    </a:ext>
                  </a:extLst>
                </a:gridCol>
                <a:gridCol w="1233640">
                  <a:extLst>
                    <a:ext uri="{9D8B030D-6E8A-4147-A177-3AD203B41FA5}">
                      <a16:colId xmlns:a16="http://schemas.microsoft.com/office/drawing/2014/main" val="3405616763"/>
                    </a:ext>
                  </a:extLst>
                </a:gridCol>
              </a:tblGrid>
              <a:tr h="560344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الفئة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الراتب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العدد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الموافقين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المرفوضين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نسبة الموافقة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5202006"/>
                  </a:ext>
                </a:extLst>
              </a:tr>
              <a:tr h="560344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منخفض جداً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اقل من 3000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15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15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0%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7491238"/>
                  </a:ext>
                </a:extLst>
              </a:tr>
              <a:tr h="560344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منخفض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3000-4000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12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11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8%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8779510"/>
                  </a:ext>
                </a:extLst>
              </a:tr>
              <a:tr h="560344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متوسط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4000-5500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14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4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29%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0220427"/>
                  </a:ext>
                </a:extLst>
              </a:tr>
              <a:tr h="560344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مرتفع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5500-7500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16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6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63%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6053259"/>
                  </a:ext>
                </a:extLst>
              </a:tr>
              <a:tr h="560344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مرتفع جداً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7500-9000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9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8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89%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386054"/>
                  </a:ext>
                </a:extLst>
              </a:tr>
              <a:tr h="1153846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ممتاز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أكثر من 9000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7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7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100%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568808"/>
                  </a:ext>
                </a:extLst>
              </a:tr>
              <a:tr h="560344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المجموع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 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73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30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>
                          <a:effectLst/>
                        </a:rPr>
                        <a:t>43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  <a:spcAft>
                          <a:spcPts val="800"/>
                        </a:spcAft>
                      </a:pPr>
                      <a:r>
                        <a:rPr lang="ar-SY" sz="1200" dirty="0">
                          <a:effectLst/>
                        </a:rPr>
                        <a:t>41%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7362553"/>
                  </a:ext>
                </a:extLst>
              </a:tr>
            </a:tbl>
          </a:graphicData>
        </a:graphic>
      </p:graphicFrame>
      <p:sp>
        <p:nvSpPr>
          <p:cNvPr id="13" name="مربع نص 12">
            <a:extLst>
              <a:ext uri="{FF2B5EF4-FFF2-40B4-BE49-F238E27FC236}">
                <a16:creationId xmlns:a16="http://schemas.microsoft.com/office/drawing/2014/main" id="{47C39D3B-82AD-5C75-AED4-36467A5029B6}"/>
              </a:ext>
            </a:extLst>
          </p:cNvPr>
          <p:cNvSpPr txBox="1"/>
          <p:nvPr/>
        </p:nvSpPr>
        <p:spPr>
          <a:xfrm>
            <a:off x="7547429" y="493486"/>
            <a:ext cx="402045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Y" sz="2400" b="1" dirty="0">
                <a:solidFill>
                  <a:schemeClr val="accent1">
                    <a:lumMod val="75000"/>
                  </a:schemeClr>
                </a:solidFill>
              </a:rPr>
              <a:t>توزيع العملاء حسب الراتب:</a:t>
            </a:r>
          </a:p>
        </p:txBody>
      </p:sp>
    </p:spTree>
    <p:extLst>
      <p:ext uri="{BB962C8B-B14F-4D97-AF65-F5344CB8AC3E}">
        <p14:creationId xmlns:p14="http://schemas.microsoft.com/office/powerpoint/2010/main" val="399359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40A77-CFC4-DD64-D980-DBD6A243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4D67B184-AD7C-F306-30B8-71DB1505B882}"/>
              </a:ext>
            </a:extLst>
          </p:cNvPr>
          <p:cNvGrpSpPr/>
          <p:nvPr/>
        </p:nvGrpSpPr>
        <p:grpSpPr>
          <a:xfrm>
            <a:off x="0" y="0"/>
            <a:ext cx="2763671" cy="6858000"/>
            <a:chOff x="0" y="0"/>
            <a:chExt cx="2763671" cy="6858000"/>
          </a:xfrm>
        </p:grpSpPr>
        <p:sp>
          <p:nvSpPr>
            <p:cNvPr id="5" name="نصف إطار 4">
              <a:extLst>
                <a:ext uri="{FF2B5EF4-FFF2-40B4-BE49-F238E27FC236}">
                  <a16:creationId xmlns:a16="http://schemas.microsoft.com/office/drawing/2014/main" id="{68800F2F-346F-5AB8-C5A4-BC481397D1E8}"/>
                </a:ext>
              </a:extLst>
            </p:cNvPr>
            <p:cNvSpPr/>
            <p:nvPr userDrawn="1"/>
          </p:nvSpPr>
          <p:spPr>
            <a:xfrm rot="10800000" flipH="1">
              <a:off x="0" y="5807122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6" name="نصف إطار 5">
              <a:extLst>
                <a:ext uri="{FF2B5EF4-FFF2-40B4-BE49-F238E27FC236}">
                  <a16:creationId xmlns:a16="http://schemas.microsoft.com/office/drawing/2014/main" id="{147FD694-E812-CC9F-9E70-245F93B34FC5}"/>
                </a:ext>
              </a:extLst>
            </p:cNvPr>
            <p:cNvSpPr/>
            <p:nvPr userDrawn="1"/>
          </p:nvSpPr>
          <p:spPr>
            <a:xfrm rot="10800000" flipH="1">
              <a:off x="156949" y="5684292"/>
              <a:ext cx="2606722" cy="1050878"/>
            </a:xfrm>
            <a:prstGeom prst="halfFram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7" name="نصف إطار 6">
              <a:extLst>
                <a:ext uri="{FF2B5EF4-FFF2-40B4-BE49-F238E27FC236}">
                  <a16:creationId xmlns:a16="http://schemas.microsoft.com/office/drawing/2014/main" id="{4628BB4E-D66D-0488-6983-E3E4707D442D}"/>
                </a:ext>
              </a:extLst>
            </p:cNvPr>
            <p:cNvSpPr/>
            <p:nvPr userDrawn="1"/>
          </p:nvSpPr>
          <p:spPr>
            <a:xfrm>
              <a:off x="0" y="0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8" name="نصف إطار 7">
              <a:extLst>
                <a:ext uri="{FF2B5EF4-FFF2-40B4-BE49-F238E27FC236}">
                  <a16:creationId xmlns:a16="http://schemas.microsoft.com/office/drawing/2014/main" id="{668B86B7-B733-7531-419A-5C11CC57A896}"/>
                </a:ext>
              </a:extLst>
            </p:cNvPr>
            <p:cNvSpPr/>
            <p:nvPr userDrawn="1"/>
          </p:nvSpPr>
          <p:spPr>
            <a:xfrm>
              <a:off x="138754" y="206992"/>
              <a:ext cx="2606722" cy="1050878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9" name="علامة الطرح 8">
              <a:extLst>
                <a:ext uri="{FF2B5EF4-FFF2-40B4-BE49-F238E27FC236}">
                  <a16:creationId xmlns:a16="http://schemas.microsoft.com/office/drawing/2014/main" id="{C04D79FF-3890-CFBF-596E-C4B87FC8E64B}"/>
                </a:ext>
              </a:extLst>
            </p:cNvPr>
            <p:cNvSpPr/>
            <p:nvPr userDrawn="1"/>
          </p:nvSpPr>
          <p:spPr>
            <a:xfrm rot="5400000">
              <a:off x="-1580365" y="4038667"/>
              <a:ext cx="3484729" cy="324000"/>
            </a:xfrm>
            <a:prstGeom prst="mathMinus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0" name="مخطط انسيابي: رابط 9">
              <a:extLst>
                <a:ext uri="{FF2B5EF4-FFF2-40B4-BE49-F238E27FC236}">
                  <a16:creationId xmlns:a16="http://schemas.microsoft.com/office/drawing/2014/main" id="{1510BA06-B802-5910-9750-902C6772BE93}"/>
                </a:ext>
              </a:extLst>
            </p:cNvPr>
            <p:cNvSpPr/>
            <p:nvPr userDrawn="1"/>
          </p:nvSpPr>
          <p:spPr>
            <a:xfrm>
              <a:off x="29568" y="2451471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1" name="مخطط انسيابي: رابط 10">
              <a:extLst>
                <a:ext uri="{FF2B5EF4-FFF2-40B4-BE49-F238E27FC236}">
                  <a16:creationId xmlns:a16="http://schemas.microsoft.com/office/drawing/2014/main" id="{D1E1B3E7-BE3C-0CCC-8D64-1C83C2111B7C}"/>
                </a:ext>
              </a:extLst>
            </p:cNvPr>
            <p:cNvSpPr/>
            <p:nvPr userDrawn="1"/>
          </p:nvSpPr>
          <p:spPr>
            <a:xfrm>
              <a:off x="29569" y="2029532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2" name="مخطط انسيابي: رابط 11">
              <a:extLst>
                <a:ext uri="{FF2B5EF4-FFF2-40B4-BE49-F238E27FC236}">
                  <a16:creationId xmlns:a16="http://schemas.microsoft.com/office/drawing/2014/main" id="{A60E77C7-1BC4-F49C-5637-979054F2A070}"/>
                </a:ext>
              </a:extLst>
            </p:cNvPr>
            <p:cNvSpPr/>
            <p:nvPr userDrawn="1"/>
          </p:nvSpPr>
          <p:spPr>
            <a:xfrm>
              <a:off x="31843" y="1666164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</p:grpSp>
      <p:pic>
        <p:nvPicPr>
          <p:cNvPr id="19" name="صورة 18" descr="صورة تحتوي على لقطة شاشة, نص, مستطيل, ميدان/ مربع&#10;&#10;تم إنشاء الوصف تلقائياً">
            <a:extLst>
              <a:ext uri="{FF2B5EF4-FFF2-40B4-BE49-F238E27FC236}">
                <a16:creationId xmlns:a16="http://schemas.microsoft.com/office/drawing/2014/main" id="{6D2C084B-9B0A-EEEC-F257-3C114D22C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92" y="1802073"/>
            <a:ext cx="6566993" cy="3187347"/>
          </a:xfrm>
          <a:prstGeom prst="rect">
            <a:avLst/>
          </a:prstGeom>
        </p:spPr>
      </p:pic>
      <p:pic>
        <p:nvPicPr>
          <p:cNvPr id="21" name="صورة 20" descr="صورة تحتوي على رسم بياني, مستطيل, لقطة شاشة, خط&#10;&#10;تم إنشاء الوصف تلقائياً">
            <a:extLst>
              <a:ext uri="{FF2B5EF4-FFF2-40B4-BE49-F238E27FC236}">
                <a16:creationId xmlns:a16="http://schemas.microsoft.com/office/drawing/2014/main" id="{62E78712-E3EA-869D-D206-4458FFDD8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966" y="2392344"/>
            <a:ext cx="4646308" cy="348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70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494AA-5AE2-E30C-FF9A-3BBCD5F3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6710874A-4BB0-A7EA-68E5-F4D4450E6CD4}"/>
              </a:ext>
            </a:extLst>
          </p:cNvPr>
          <p:cNvGrpSpPr/>
          <p:nvPr/>
        </p:nvGrpSpPr>
        <p:grpSpPr>
          <a:xfrm>
            <a:off x="0" y="0"/>
            <a:ext cx="2763671" cy="6858000"/>
            <a:chOff x="0" y="0"/>
            <a:chExt cx="2763671" cy="6858000"/>
          </a:xfrm>
        </p:grpSpPr>
        <p:sp>
          <p:nvSpPr>
            <p:cNvPr id="5" name="نصف إطار 4">
              <a:extLst>
                <a:ext uri="{FF2B5EF4-FFF2-40B4-BE49-F238E27FC236}">
                  <a16:creationId xmlns:a16="http://schemas.microsoft.com/office/drawing/2014/main" id="{E7A2505E-C8AB-CD66-F986-5AA54485B394}"/>
                </a:ext>
              </a:extLst>
            </p:cNvPr>
            <p:cNvSpPr/>
            <p:nvPr userDrawn="1"/>
          </p:nvSpPr>
          <p:spPr>
            <a:xfrm rot="10800000" flipH="1">
              <a:off x="0" y="5807122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6" name="نصف إطار 5">
              <a:extLst>
                <a:ext uri="{FF2B5EF4-FFF2-40B4-BE49-F238E27FC236}">
                  <a16:creationId xmlns:a16="http://schemas.microsoft.com/office/drawing/2014/main" id="{9019F464-AE87-1022-8962-78C400852F8E}"/>
                </a:ext>
              </a:extLst>
            </p:cNvPr>
            <p:cNvSpPr/>
            <p:nvPr userDrawn="1"/>
          </p:nvSpPr>
          <p:spPr>
            <a:xfrm rot="10800000" flipH="1">
              <a:off x="156949" y="5684292"/>
              <a:ext cx="2606722" cy="1050878"/>
            </a:xfrm>
            <a:prstGeom prst="halfFram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7" name="نصف إطار 6">
              <a:extLst>
                <a:ext uri="{FF2B5EF4-FFF2-40B4-BE49-F238E27FC236}">
                  <a16:creationId xmlns:a16="http://schemas.microsoft.com/office/drawing/2014/main" id="{0D5A50B9-735B-BEB1-33E4-837738AD950A}"/>
                </a:ext>
              </a:extLst>
            </p:cNvPr>
            <p:cNvSpPr/>
            <p:nvPr userDrawn="1"/>
          </p:nvSpPr>
          <p:spPr>
            <a:xfrm>
              <a:off x="0" y="0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8" name="نصف إطار 7">
              <a:extLst>
                <a:ext uri="{FF2B5EF4-FFF2-40B4-BE49-F238E27FC236}">
                  <a16:creationId xmlns:a16="http://schemas.microsoft.com/office/drawing/2014/main" id="{BD3342CD-3221-3910-5234-1B2A388B7266}"/>
                </a:ext>
              </a:extLst>
            </p:cNvPr>
            <p:cNvSpPr/>
            <p:nvPr userDrawn="1"/>
          </p:nvSpPr>
          <p:spPr>
            <a:xfrm>
              <a:off x="138754" y="206992"/>
              <a:ext cx="2606722" cy="1050878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9" name="علامة الطرح 8">
              <a:extLst>
                <a:ext uri="{FF2B5EF4-FFF2-40B4-BE49-F238E27FC236}">
                  <a16:creationId xmlns:a16="http://schemas.microsoft.com/office/drawing/2014/main" id="{40A9E8E6-D5C0-7298-6CD3-3B26C8A37F12}"/>
                </a:ext>
              </a:extLst>
            </p:cNvPr>
            <p:cNvSpPr/>
            <p:nvPr userDrawn="1"/>
          </p:nvSpPr>
          <p:spPr>
            <a:xfrm rot="5400000">
              <a:off x="-1580365" y="4038667"/>
              <a:ext cx="3484729" cy="324000"/>
            </a:xfrm>
            <a:prstGeom prst="mathMinus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0" name="مخطط انسيابي: رابط 9">
              <a:extLst>
                <a:ext uri="{FF2B5EF4-FFF2-40B4-BE49-F238E27FC236}">
                  <a16:creationId xmlns:a16="http://schemas.microsoft.com/office/drawing/2014/main" id="{A57BBA1B-81FE-BA8A-04EF-B1437B113ACF}"/>
                </a:ext>
              </a:extLst>
            </p:cNvPr>
            <p:cNvSpPr/>
            <p:nvPr userDrawn="1"/>
          </p:nvSpPr>
          <p:spPr>
            <a:xfrm>
              <a:off x="29568" y="2451471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1" name="مخطط انسيابي: رابط 10">
              <a:extLst>
                <a:ext uri="{FF2B5EF4-FFF2-40B4-BE49-F238E27FC236}">
                  <a16:creationId xmlns:a16="http://schemas.microsoft.com/office/drawing/2014/main" id="{C0C8FE0A-CA15-B3F1-9985-2F9CAAF0FCE1}"/>
                </a:ext>
              </a:extLst>
            </p:cNvPr>
            <p:cNvSpPr/>
            <p:nvPr userDrawn="1"/>
          </p:nvSpPr>
          <p:spPr>
            <a:xfrm>
              <a:off x="29569" y="2029532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2" name="مخطط انسيابي: رابط 11">
              <a:extLst>
                <a:ext uri="{FF2B5EF4-FFF2-40B4-BE49-F238E27FC236}">
                  <a16:creationId xmlns:a16="http://schemas.microsoft.com/office/drawing/2014/main" id="{15CBD312-B489-5281-D441-D4A00B8F9DB9}"/>
                </a:ext>
              </a:extLst>
            </p:cNvPr>
            <p:cNvSpPr/>
            <p:nvPr userDrawn="1"/>
          </p:nvSpPr>
          <p:spPr>
            <a:xfrm>
              <a:off x="31843" y="1666164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</p:grpSp>
      <p:sp>
        <p:nvSpPr>
          <p:cNvPr id="2" name="مربع نص 1">
            <a:extLst>
              <a:ext uri="{FF2B5EF4-FFF2-40B4-BE49-F238E27FC236}">
                <a16:creationId xmlns:a16="http://schemas.microsoft.com/office/drawing/2014/main" id="{0B6E1B55-1557-8F32-989C-478A574CB47F}"/>
              </a:ext>
            </a:extLst>
          </p:cNvPr>
          <p:cNvSpPr txBox="1"/>
          <p:nvPr/>
        </p:nvSpPr>
        <p:spPr>
          <a:xfrm>
            <a:off x="2492478" y="798286"/>
            <a:ext cx="8610952" cy="233910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</a:pPr>
            <a:r>
              <a:rPr lang="ar-SY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المكاتب المستخدمة:</a:t>
            </a:r>
            <a:endParaRPr lang="en-US" sz="18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150000"/>
              </a:lnSpc>
              <a:spcAft>
                <a:spcPts val="800"/>
              </a:spcAft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Pandas/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plotly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streamlit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pipeline/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numpy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matplotlib.pyplot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seaborn/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train_test_split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</a:p>
          <a:p>
            <a:pPr algn="r">
              <a:lnSpc>
                <a:spcPct val="150000"/>
              </a:lnSpc>
              <a:spcAft>
                <a:spcPts val="800"/>
              </a:spcAft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StandardScaler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LogisticRegression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RandomForestClassifier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endParaRPr lang="ar-SY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4FC830B4-30E0-AAE9-7EC0-72F892758C90}"/>
              </a:ext>
            </a:extLst>
          </p:cNvPr>
          <p:cNvSpPr txBox="1"/>
          <p:nvPr/>
        </p:nvSpPr>
        <p:spPr>
          <a:xfrm>
            <a:off x="4837233" y="3791418"/>
            <a:ext cx="6096000" cy="260584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SY" sz="20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التوصيات:</a:t>
            </a:r>
            <a:endParaRPr lang="en-US" sz="20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r" rtl="1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-SY" sz="20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وضع حد أدنى للراتب </a:t>
            </a:r>
          </a:p>
          <a:p>
            <a:pPr marL="285750" indent="-285750" algn="r" rtl="1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-SY" sz="20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إعادة تقييم سياسات الموافقة </a:t>
            </a:r>
          </a:p>
          <a:p>
            <a:pPr marL="285750" indent="-285750" algn="r" rtl="1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-SY" sz="20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اعتبار القروض عامل إيجابي</a:t>
            </a:r>
          </a:p>
          <a:p>
            <a:pPr marL="285750" indent="-285750" algn="r" rtl="1">
              <a:lnSpc>
                <a:spcPct val="11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ar-SY" sz="20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جمع المزيد من البيانات مثل حالة الوظيفة والضمانات  </a:t>
            </a:r>
            <a:endParaRPr lang="en-US" sz="20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ar-SY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001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7C979-484D-7E48-A9D1-29725E11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A79E9BB4-960C-6597-9429-42F60923EE66}"/>
              </a:ext>
            </a:extLst>
          </p:cNvPr>
          <p:cNvGrpSpPr/>
          <p:nvPr/>
        </p:nvGrpSpPr>
        <p:grpSpPr>
          <a:xfrm>
            <a:off x="0" y="0"/>
            <a:ext cx="2763671" cy="6858000"/>
            <a:chOff x="0" y="0"/>
            <a:chExt cx="2763671" cy="6858000"/>
          </a:xfrm>
        </p:grpSpPr>
        <p:sp>
          <p:nvSpPr>
            <p:cNvPr id="5" name="نصف إطار 4">
              <a:extLst>
                <a:ext uri="{FF2B5EF4-FFF2-40B4-BE49-F238E27FC236}">
                  <a16:creationId xmlns:a16="http://schemas.microsoft.com/office/drawing/2014/main" id="{65BBE786-6B19-7EB8-C126-E69163FAD3F7}"/>
                </a:ext>
              </a:extLst>
            </p:cNvPr>
            <p:cNvSpPr/>
            <p:nvPr userDrawn="1"/>
          </p:nvSpPr>
          <p:spPr>
            <a:xfrm rot="10800000" flipH="1">
              <a:off x="0" y="5807122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6" name="نصف إطار 5">
              <a:extLst>
                <a:ext uri="{FF2B5EF4-FFF2-40B4-BE49-F238E27FC236}">
                  <a16:creationId xmlns:a16="http://schemas.microsoft.com/office/drawing/2014/main" id="{DF8D55D2-DA67-BDFF-C200-1B1D5F6FF9B7}"/>
                </a:ext>
              </a:extLst>
            </p:cNvPr>
            <p:cNvSpPr/>
            <p:nvPr userDrawn="1"/>
          </p:nvSpPr>
          <p:spPr>
            <a:xfrm rot="10800000" flipH="1">
              <a:off x="156949" y="5684292"/>
              <a:ext cx="2606722" cy="1050878"/>
            </a:xfrm>
            <a:prstGeom prst="halfFram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7" name="نصف إطار 6">
              <a:extLst>
                <a:ext uri="{FF2B5EF4-FFF2-40B4-BE49-F238E27FC236}">
                  <a16:creationId xmlns:a16="http://schemas.microsoft.com/office/drawing/2014/main" id="{0F1469D1-101A-82EC-A28C-DD782F46268D}"/>
                </a:ext>
              </a:extLst>
            </p:cNvPr>
            <p:cNvSpPr/>
            <p:nvPr userDrawn="1"/>
          </p:nvSpPr>
          <p:spPr>
            <a:xfrm>
              <a:off x="0" y="0"/>
              <a:ext cx="2606722" cy="1050878"/>
            </a:xfrm>
            <a:prstGeom prst="halfFram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8" name="نصف إطار 7">
              <a:extLst>
                <a:ext uri="{FF2B5EF4-FFF2-40B4-BE49-F238E27FC236}">
                  <a16:creationId xmlns:a16="http://schemas.microsoft.com/office/drawing/2014/main" id="{577202F6-F096-A6DF-638F-BD5F9AF798A0}"/>
                </a:ext>
              </a:extLst>
            </p:cNvPr>
            <p:cNvSpPr/>
            <p:nvPr userDrawn="1"/>
          </p:nvSpPr>
          <p:spPr>
            <a:xfrm>
              <a:off x="138754" y="206992"/>
              <a:ext cx="2606722" cy="1050878"/>
            </a:xfrm>
            <a:prstGeom prst="halfFram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>
                <a:solidFill>
                  <a:schemeClr val="tx1"/>
                </a:solidFill>
              </a:endParaRPr>
            </a:p>
          </p:txBody>
        </p:sp>
        <p:sp>
          <p:nvSpPr>
            <p:cNvPr id="9" name="علامة الطرح 8">
              <a:extLst>
                <a:ext uri="{FF2B5EF4-FFF2-40B4-BE49-F238E27FC236}">
                  <a16:creationId xmlns:a16="http://schemas.microsoft.com/office/drawing/2014/main" id="{917951BD-5BB8-70CE-A452-3D618E2DCCBE}"/>
                </a:ext>
              </a:extLst>
            </p:cNvPr>
            <p:cNvSpPr/>
            <p:nvPr userDrawn="1"/>
          </p:nvSpPr>
          <p:spPr>
            <a:xfrm rot="5400000">
              <a:off x="-1580365" y="4038667"/>
              <a:ext cx="3484729" cy="324000"/>
            </a:xfrm>
            <a:prstGeom prst="mathMinus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0" name="مخطط انسيابي: رابط 9">
              <a:extLst>
                <a:ext uri="{FF2B5EF4-FFF2-40B4-BE49-F238E27FC236}">
                  <a16:creationId xmlns:a16="http://schemas.microsoft.com/office/drawing/2014/main" id="{0EAA1115-84ED-7FC2-0AF9-2539CE22F093}"/>
                </a:ext>
              </a:extLst>
            </p:cNvPr>
            <p:cNvSpPr/>
            <p:nvPr userDrawn="1"/>
          </p:nvSpPr>
          <p:spPr>
            <a:xfrm>
              <a:off x="29568" y="2451471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1" name="مخطط انسيابي: رابط 10">
              <a:extLst>
                <a:ext uri="{FF2B5EF4-FFF2-40B4-BE49-F238E27FC236}">
                  <a16:creationId xmlns:a16="http://schemas.microsoft.com/office/drawing/2014/main" id="{08C421CF-FF23-2FF2-68BB-F50D4F09FC89}"/>
                </a:ext>
              </a:extLst>
            </p:cNvPr>
            <p:cNvSpPr/>
            <p:nvPr userDrawn="1"/>
          </p:nvSpPr>
          <p:spPr>
            <a:xfrm>
              <a:off x="29569" y="2029532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  <p:sp>
          <p:nvSpPr>
            <p:cNvPr id="12" name="مخطط انسيابي: رابط 11">
              <a:extLst>
                <a:ext uri="{FF2B5EF4-FFF2-40B4-BE49-F238E27FC236}">
                  <a16:creationId xmlns:a16="http://schemas.microsoft.com/office/drawing/2014/main" id="{72CFE8C2-6608-027E-4ABF-BF2FDE6B4C99}"/>
                </a:ext>
              </a:extLst>
            </p:cNvPr>
            <p:cNvSpPr/>
            <p:nvPr userDrawn="1"/>
          </p:nvSpPr>
          <p:spPr>
            <a:xfrm>
              <a:off x="31843" y="1666164"/>
              <a:ext cx="308955" cy="271819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SY"/>
            </a:p>
          </p:txBody>
        </p:sp>
      </p:grpSp>
      <p:sp>
        <p:nvSpPr>
          <p:cNvPr id="3" name="مربع نص 2">
            <a:extLst>
              <a:ext uri="{FF2B5EF4-FFF2-40B4-BE49-F238E27FC236}">
                <a16:creationId xmlns:a16="http://schemas.microsoft.com/office/drawing/2014/main" id="{C53906CD-20DB-162C-B31C-C0BC2A444133}"/>
              </a:ext>
            </a:extLst>
          </p:cNvPr>
          <p:cNvSpPr txBox="1"/>
          <p:nvPr/>
        </p:nvSpPr>
        <p:spPr>
          <a:xfrm>
            <a:off x="3410857" y="812800"/>
            <a:ext cx="795382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Y" dirty="0"/>
              <a:t>يمكن رؤية كافة المجلدات والنتائج عبر الرابط:</a:t>
            </a:r>
          </a:p>
          <a:p>
            <a:r>
              <a:rPr lang="en-US"/>
              <a:t>https://github.com/Maya-Mawwas/loan_risk</a:t>
            </a:r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933508333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324</Words>
  <Application>Microsoft Office PowerPoint</Application>
  <PresentationFormat>شاشة عريضة</PresentationFormat>
  <Paragraphs>110</Paragraphs>
  <Slides>8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</vt:lpstr>
      <vt:lpstr>Consolas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TECHNO</dc:creator>
  <cp:lastModifiedBy>TECHNO</cp:lastModifiedBy>
  <cp:revision>1</cp:revision>
  <dcterms:created xsi:type="dcterms:W3CDTF">2026-05-31T15:49:57Z</dcterms:created>
  <dcterms:modified xsi:type="dcterms:W3CDTF">2026-05-31T17:10:59Z</dcterms:modified>
</cp:coreProperties>
</file>